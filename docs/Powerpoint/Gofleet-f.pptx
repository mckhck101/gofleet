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nton" pitchFamily="2" charset="0"/>
      <p:regular r:id="rId13"/>
    </p:embeddedFont>
    <p:embeddedFont>
      <p:font typeface="Fira Sans" panose="020B0503050000020004" pitchFamily="34" charset="0"/>
      <p:regular r:id="rId14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25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91402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Gofleet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69616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Plateforme intelligente de réservation et de gestion des voyages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3616375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Projet académique — </a:t>
            </a:r>
            <a:r>
              <a:rPr lang="en-US" sz="110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IUGEE Keyce Academy</a:t>
            </a: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Année 2025–2026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Auteurs :</a:t>
            </a: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Gofleet Team : </a:t>
            </a:r>
            <a:r>
              <a:rPr lang="fr-FR" sz="1100" noProof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Elèves</a:t>
            </a: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 B2A keyce · </a:t>
            </a:r>
            <a:r>
              <a:rPr lang="en-US" sz="110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Encadrant :</a:t>
            </a: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[Evaris Fomekong]</a:t>
            </a:r>
            <a:endParaRPr lang="en-US" sz="1100" dirty="0"/>
          </a:p>
        </p:txBody>
      </p:sp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70077" y="0"/>
            <a:ext cx="237392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3302" b="311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63132" y="409501"/>
            <a:ext cx="601117" cy="223317"/>
          </a:xfrm>
          <a:prstGeom prst="roundRect">
            <a:avLst>
              <a:gd name="adj" fmla="val 6666"/>
            </a:avLst>
          </a:prstGeom>
          <a:solidFill>
            <a:srgbClr val="490315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4" name="Text 1"/>
          <p:cNvSpPr/>
          <p:nvPr/>
        </p:nvSpPr>
        <p:spPr>
          <a:xfrm>
            <a:off x="3937546" y="446708"/>
            <a:ext cx="909489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CONTEXTE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863132" y="676201"/>
            <a:ext cx="521717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Une mobilité fragmentée au Cameroun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863132" y="1226493"/>
            <a:ext cx="4846737" cy="888504"/>
          </a:xfrm>
          <a:prstGeom prst="roundRect">
            <a:avLst>
              <a:gd name="adj" fmla="val 209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7" name="Text 4"/>
          <p:cNvSpPr/>
          <p:nvPr/>
        </p:nvSpPr>
        <p:spPr>
          <a:xfrm>
            <a:off x="3987105" y="1350466"/>
            <a:ext cx="1550566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🚫</a:t>
            </a: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Pas de centralisation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87105" y="1618952"/>
            <a:ext cx="459878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Les offres de transport sont dispersées entre agences physiques, sans plateforme unique.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63132" y="2223492"/>
            <a:ext cx="4846737" cy="888504"/>
          </a:xfrm>
          <a:prstGeom prst="roundRect">
            <a:avLst>
              <a:gd name="adj" fmla="val 2094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10" name="Text 7"/>
          <p:cNvSpPr/>
          <p:nvPr/>
        </p:nvSpPr>
        <p:spPr>
          <a:xfrm>
            <a:off x="3987105" y="2347466"/>
            <a:ext cx="1900982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🚶</a:t>
            </a: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Déplacements obligatoires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87105" y="2615952"/>
            <a:ext cx="459878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Réserver un voyage nécessite souvent de se rendre physiquement dans une agence.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63132" y="3220492"/>
            <a:ext cx="4846737" cy="702469"/>
          </a:xfrm>
          <a:prstGeom prst="roundRect">
            <a:avLst>
              <a:gd name="adj" fmla="val 2649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13" name="Text 10"/>
          <p:cNvSpPr/>
          <p:nvPr/>
        </p:nvSpPr>
        <p:spPr>
          <a:xfrm>
            <a:off x="3987105" y="3344466"/>
            <a:ext cx="1550566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⚖️</a:t>
            </a: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Comparaison difficile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87105" y="3612952"/>
            <a:ext cx="4598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Prix, horaires et disponibilités ne sont pas accessibles en temps réel.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63132" y="4031456"/>
            <a:ext cx="4846737" cy="702469"/>
          </a:xfrm>
          <a:prstGeom prst="roundRect">
            <a:avLst>
              <a:gd name="adj" fmla="val 2649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16" name="Text 13"/>
          <p:cNvSpPr/>
          <p:nvPr/>
        </p:nvSpPr>
        <p:spPr>
          <a:xfrm>
            <a:off x="3987105" y="4155430"/>
            <a:ext cx="1977256" cy="20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📱</a:t>
            </a: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Solution numérique absente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87105" y="4423916"/>
            <a:ext cx="459878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Aucune application locale ne couvre l'ensemble des modes de transport.</a:t>
            </a:r>
            <a:endParaRPr lang="en-US" sz="9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F1C296-DF68-3792-E73B-7DF0EC35EB4C}"/>
              </a:ext>
            </a:extLst>
          </p:cNvPr>
          <p:cNvSpPr/>
          <p:nvPr/>
        </p:nvSpPr>
        <p:spPr>
          <a:xfrm>
            <a:off x="7983166" y="4831404"/>
            <a:ext cx="1160834" cy="312096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19460"/>
            <a:ext cx="529382" cy="197197"/>
          </a:xfrm>
          <a:prstGeom prst="roundRect">
            <a:avLst>
              <a:gd name="adj" fmla="val 6605"/>
            </a:avLst>
          </a:prstGeom>
          <a:noFill/>
          <a:ln w="4763">
            <a:solidFill>
              <a:srgbClr val="FA95AE"/>
            </a:solidFill>
            <a:prstDash val="solid"/>
          </a:ln>
        </p:spPr>
        <p:txBody>
          <a:bodyPr/>
          <a:lstStyle/>
          <a:p>
            <a:endParaRPr lang="fr-CM" dirty="0"/>
          </a:p>
        </p:txBody>
      </p:sp>
      <p:sp>
        <p:nvSpPr>
          <p:cNvPr id="3" name="Text 1"/>
          <p:cNvSpPr/>
          <p:nvPr/>
        </p:nvSpPr>
        <p:spPr>
          <a:xfrm>
            <a:off x="897210" y="356741"/>
            <a:ext cx="846832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OBJECTIFS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49846"/>
            <a:ext cx="3881661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Ce que Gofleet vise à accomplir</a:t>
            </a:r>
            <a:endParaRPr lang="en-US" sz="21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15491" y="889025"/>
            <a:ext cx="2044337" cy="2924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2163" y="1977628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Objectif général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72163" y="2230189"/>
            <a:ext cx="2449116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Développer une </a:t>
            </a:r>
            <a:r>
              <a:rPr lang="en-US" sz="8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plateforme intelligente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de réservation de voyages, centralisant tous les modes de transport au Cameroun.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72163" y="2773114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Objectifs spécifiques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040" y="4003365"/>
            <a:ext cx="162744" cy="162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9984" y="4000054"/>
            <a:ext cx="142964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Recherche &amp; comparaison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4571" y="4003365"/>
            <a:ext cx="162744" cy="162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76515" y="4000054"/>
            <a:ext cx="2574131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Réservation de places &amp; paiement électronique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040" y="4498442"/>
            <a:ext cx="162744" cy="162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9984" y="4495130"/>
            <a:ext cx="152667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Facturation &amp; ticket QR Code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4571" y="4498442"/>
            <a:ext cx="162744" cy="162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76515" y="4495130"/>
            <a:ext cx="209297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Géolocalisation &amp; assistance vocale IA</a:t>
            </a:r>
            <a:endParaRPr lang="en-US" sz="105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B7C5DFEB-88F9-2C81-008D-08D08A7C9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43" y="889025"/>
            <a:ext cx="2373923" cy="29241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E71DEFF-23E6-2C25-5C38-36590C17DC6B}"/>
              </a:ext>
            </a:extLst>
          </p:cNvPr>
          <p:cNvSpPr/>
          <p:nvPr/>
        </p:nvSpPr>
        <p:spPr>
          <a:xfrm>
            <a:off x="7983166" y="4831404"/>
            <a:ext cx="1160834" cy="31209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9803"/>
            <a:ext cx="1024458" cy="187672"/>
          </a:xfrm>
          <a:prstGeom prst="roundRect">
            <a:avLst>
              <a:gd name="adj" fmla="val 6940"/>
            </a:avLst>
          </a:prstGeom>
          <a:solidFill>
            <a:srgbClr val="490315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Text 1"/>
          <p:cNvSpPr/>
          <p:nvPr/>
        </p:nvSpPr>
        <p:spPr>
          <a:xfrm>
            <a:off x="892448" y="362322"/>
            <a:ext cx="1351434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ANALYSE DE L'EXISTANT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0664"/>
            <a:ext cx="4821585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Les solutions existantes et leurs limites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07951"/>
            <a:ext cx="3612207" cy="3612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071" y="2107034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Ce qu'il manque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783" y="2370013"/>
            <a:ext cx="1778868" cy="705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4716" y="2492797"/>
            <a:ext cx="1476152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Aucune plateforme adaptée au contexte camerounais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2410" y="2370013"/>
            <a:ext cx="1778868" cy="705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22343" y="2492797"/>
            <a:ext cx="147615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Pas de réservation locale centralisée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4783" y="3158505"/>
            <a:ext cx="1778868" cy="5521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74716" y="3281288"/>
            <a:ext cx="147615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Absence d'assistant IA intégré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2410" y="3158505"/>
            <a:ext cx="1778868" cy="5521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22343" y="3281288"/>
            <a:ext cx="147615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Aucun ticket numérique QR Code</a:t>
            </a:r>
            <a:endParaRPr lang="en-US" sz="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196D8E-594C-4211-13B7-C99EB59AF06F}"/>
              </a:ext>
            </a:extLst>
          </p:cNvPr>
          <p:cNvSpPr/>
          <p:nvPr/>
        </p:nvSpPr>
        <p:spPr>
          <a:xfrm>
            <a:off x="7983166" y="4831404"/>
            <a:ext cx="1160834" cy="31209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0838" y="243929"/>
            <a:ext cx="385986" cy="127471"/>
          </a:xfrm>
          <a:prstGeom prst="roundRect">
            <a:avLst>
              <a:gd name="adj" fmla="val 7507"/>
            </a:avLst>
          </a:prstGeom>
          <a:solidFill>
            <a:srgbClr val="490315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Text 1"/>
          <p:cNvSpPr/>
          <p:nvPr/>
        </p:nvSpPr>
        <p:spPr>
          <a:xfrm>
            <a:off x="1868612" y="267816"/>
            <a:ext cx="747638" cy="7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SOLUTION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820838" y="389334"/>
            <a:ext cx="32612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Gofleet : une plateforme tout-en-un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838" y="705743"/>
            <a:ext cx="5502325" cy="2413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88348" y="2525326"/>
            <a:ext cx="831603" cy="148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Réservation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488348" y="2716579"/>
            <a:ext cx="831603" cy="186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Choix de siège en temps réel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130154" y="2525326"/>
            <a:ext cx="831603" cy="148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Ticket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30154" y="2716579"/>
            <a:ext cx="831603" cy="186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QR code et géolocalisation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196563" y="922673"/>
            <a:ext cx="831603" cy="148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Recherche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96563" y="1113926"/>
            <a:ext cx="831603" cy="186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IA et filtres avancés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827781" y="922673"/>
            <a:ext cx="831603" cy="148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Paiement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27781" y="1113926"/>
            <a:ext cx="831603" cy="186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Mobile Money ou carte sécurisée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820838" y="3169816"/>
            <a:ext cx="5959525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 parcours utilisateur fluide, de la recherche à l'embarquement, entièrement digitalisé.</a:t>
            </a:r>
            <a:endParaRPr lang="en-US" sz="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0838" y="3319983"/>
            <a:ext cx="159469" cy="15946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0838" y="3535487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Recherche intelligente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1820838" y="3686994"/>
            <a:ext cx="272310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Filtres avancés et suggestions IA</a:t>
            </a:r>
            <a:endParaRPr lang="en-US" sz="6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9980" y="3319983"/>
            <a:ext cx="159469" cy="1594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99980" y="3535487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Réservation de sièges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4599980" y="3686994"/>
            <a:ext cx="272318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Choix du siège en temps réel</a:t>
            </a:r>
            <a:endParaRPr lang="en-US" sz="6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0838" y="3876377"/>
            <a:ext cx="159469" cy="1594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0838" y="4091880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Paiement sécurisé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1820838" y="4243388"/>
            <a:ext cx="272310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Orange Money, MTN, CB</a:t>
            </a:r>
            <a:endParaRPr lang="en-US" sz="6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9980" y="3876377"/>
            <a:ext cx="159469" cy="15946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99980" y="4091880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Ticket QR Code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4599980" y="4243388"/>
            <a:ext cx="272318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Embarquement sans papier</a:t>
            </a:r>
            <a:endParaRPr lang="en-US" sz="6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20838" y="4432771"/>
            <a:ext cx="159469" cy="15946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820838" y="464827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Assistant vocal IA</a:t>
            </a:r>
            <a:endParaRPr lang="en-US" sz="750" dirty="0"/>
          </a:p>
        </p:txBody>
      </p:sp>
      <p:sp>
        <p:nvSpPr>
          <p:cNvPr id="29" name="Text 21"/>
          <p:cNvSpPr/>
          <p:nvPr/>
        </p:nvSpPr>
        <p:spPr>
          <a:xfrm>
            <a:off x="1820838" y="4799781"/>
            <a:ext cx="2723108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Recherche et aide par la voix</a:t>
            </a:r>
            <a:endParaRPr lang="en-US" sz="6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9980" y="4432771"/>
            <a:ext cx="159469" cy="15946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599980" y="464827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Géolocalisation</a:t>
            </a:r>
            <a:endParaRPr lang="en-US" sz="750" dirty="0"/>
          </a:p>
        </p:txBody>
      </p:sp>
      <p:sp>
        <p:nvSpPr>
          <p:cNvPr id="32" name="Text 23"/>
          <p:cNvSpPr/>
          <p:nvPr/>
        </p:nvSpPr>
        <p:spPr>
          <a:xfrm>
            <a:off x="4599980" y="4799781"/>
            <a:ext cx="272318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Suivi des agences et trajets</a:t>
            </a:r>
            <a:endParaRPr lang="en-US" sz="6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8E29D0-1282-1DC9-FE17-068F0A703006}"/>
              </a:ext>
            </a:extLst>
          </p:cNvPr>
          <p:cNvSpPr/>
          <p:nvPr/>
        </p:nvSpPr>
        <p:spPr>
          <a:xfrm>
            <a:off x="7983166" y="4831404"/>
            <a:ext cx="1160834" cy="31209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5145" y="283369"/>
            <a:ext cx="584299" cy="154781"/>
          </a:xfrm>
          <a:prstGeom prst="roundRect">
            <a:avLst>
              <a:gd name="adj" fmla="val 6869"/>
            </a:avLst>
          </a:prstGeom>
          <a:noFill/>
          <a:ln w="4763">
            <a:solidFill>
              <a:srgbClr val="FA95AE"/>
            </a:solidFill>
            <a:prstDash val="solid"/>
          </a:ln>
        </p:spPr>
        <p:txBody>
          <a:bodyPr/>
          <a:lstStyle/>
          <a:p>
            <a:endParaRPr lang="fr-CM" dirty="0"/>
          </a:p>
        </p:txBody>
      </p:sp>
      <p:sp>
        <p:nvSpPr>
          <p:cNvPr id="3" name="Text 1"/>
          <p:cNvSpPr/>
          <p:nvPr/>
        </p:nvSpPr>
        <p:spPr>
          <a:xfrm>
            <a:off x="1573039" y="314697"/>
            <a:ext cx="925711" cy="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515145" y="460251"/>
            <a:ext cx="2736577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Stack technique moderne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45" y="820192"/>
            <a:ext cx="6113711" cy="27978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3455" y="1200166"/>
            <a:ext cx="1352408" cy="169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Données &amp; Services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93455" y="1417302"/>
            <a:ext cx="1490654" cy="21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MySQL · Google Maps · Mobile Money · Email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677771" y="2119803"/>
            <a:ext cx="1352408" cy="169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59739" y="2336940"/>
            <a:ext cx="1370440" cy="21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Spring Boot 3 · REST · JWT · OpenAI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93455" y="2594649"/>
            <a:ext cx="1352408" cy="169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93455" y="2811785"/>
            <a:ext cx="1490654" cy="21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React Native / Expo - Application mobile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515145" y="3680371"/>
            <a:ext cx="657091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Une architecture </a:t>
            </a:r>
            <a:r>
              <a:rPr lang="en-US" sz="6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client-serveur</a:t>
            </a:r>
            <a:r>
              <a:rPr lang="en-US" sz="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robuste, sécurisée et extensible, conçue pour supporter une croissance à l'échelle de l'Afrique centrale.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1515145" y="3857848"/>
            <a:ext cx="3029173" cy="473422"/>
          </a:xfrm>
          <a:prstGeom prst="roundRect">
            <a:avLst>
              <a:gd name="adj" fmla="val 280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14" name="Text 11"/>
          <p:cNvSpPr/>
          <p:nvPr/>
        </p:nvSpPr>
        <p:spPr>
          <a:xfrm>
            <a:off x="1603697" y="3946401"/>
            <a:ext cx="1107504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📱</a:t>
            </a:r>
            <a:r>
              <a:rPr lang="en-US" sz="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Mobile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603697" y="4127525"/>
            <a:ext cx="285206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React Native / Expo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599682" y="3857848"/>
            <a:ext cx="3029173" cy="473422"/>
          </a:xfrm>
          <a:prstGeom prst="roundRect">
            <a:avLst>
              <a:gd name="adj" fmla="val 280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17" name="Text 14"/>
          <p:cNvSpPr/>
          <p:nvPr/>
        </p:nvSpPr>
        <p:spPr>
          <a:xfrm>
            <a:off x="4688235" y="3946401"/>
            <a:ext cx="1107504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⚙️</a:t>
            </a:r>
            <a:r>
              <a:rPr lang="en-US" sz="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Backend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688235" y="4127525"/>
            <a:ext cx="285206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Spring Boot 3 · REST · JWT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1515145" y="4386635"/>
            <a:ext cx="3029173" cy="473422"/>
          </a:xfrm>
          <a:prstGeom prst="roundRect">
            <a:avLst>
              <a:gd name="adj" fmla="val 280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20" name="Text 17"/>
          <p:cNvSpPr/>
          <p:nvPr/>
        </p:nvSpPr>
        <p:spPr>
          <a:xfrm>
            <a:off x="1603697" y="4475187"/>
            <a:ext cx="1107504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🤖</a:t>
            </a:r>
            <a:r>
              <a:rPr lang="en-US" sz="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IA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603697" y="4656311"/>
            <a:ext cx="285206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OpenAI API · Google Maps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599682" y="4386635"/>
            <a:ext cx="3029173" cy="473422"/>
          </a:xfrm>
          <a:prstGeom prst="roundRect">
            <a:avLst>
              <a:gd name="adj" fmla="val 280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23" name="Text 20"/>
          <p:cNvSpPr/>
          <p:nvPr/>
        </p:nvSpPr>
        <p:spPr>
          <a:xfrm>
            <a:off x="4688235" y="4475187"/>
            <a:ext cx="1107504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💳</a:t>
            </a:r>
            <a:r>
              <a:rPr lang="en-US" sz="8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Paiement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688235" y="4656311"/>
            <a:ext cx="2852068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Orange Money · MTN</a:t>
            </a:r>
            <a:endParaRPr lang="en-US" sz="6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A419BE-ADE9-A0AC-6273-864B25D95B28}"/>
              </a:ext>
            </a:extLst>
          </p:cNvPr>
          <p:cNvSpPr/>
          <p:nvPr/>
        </p:nvSpPr>
        <p:spPr>
          <a:xfrm>
            <a:off x="7983166" y="4831404"/>
            <a:ext cx="1160834" cy="31209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9452" y="324148"/>
            <a:ext cx="637431" cy="163562"/>
          </a:xfrm>
          <a:prstGeom prst="roundRect">
            <a:avLst>
              <a:gd name="adj" fmla="val 7151"/>
            </a:avLst>
          </a:prstGeom>
          <a:solidFill>
            <a:srgbClr val="490315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Text 1"/>
          <p:cNvSpPr/>
          <p:nvPr/>
        </p:nvSpPr>
        <p:spPr>
          <a:xfrm>
            <a:off x="1267867" y="353318"/>
            <a:ext cx="977801" cy="105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MODÉLISATION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209452" y="514499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Structure des données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52" y="1247552"/>
            <a:ext cx="3243635" cy="3243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5527" y="986433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Entités principales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695527" y="1214065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695527" y="1365349"/>
            <a:ext cx="3243635" cy="14288"/>
          </a:xfrm>
          <a:prstGeom prst="rect">
            <a:avLst/>
          </a:prstGeom>
          <a:solidFill>
            <a:srgbClr val="FA95A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9" name="Text 6"/>
          <p:cNvSpPr/>
          <p:nvPr/>
        </p:nvSpPr>
        <p:spPr>
          <a:xfrm>
            <a:off x="4695527" y="1442591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Utilisateur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95527" y="1661815"/>
            <a:ext cx="32436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Profil, historique, préférences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695527" y="1933426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95527" y="2084710"/>
            <a:ext cx="3243635" cy="14288"/>
          </a:xfrm>
          <a:prstGeom prst="rect">
            <a:avLst/>
          </a:prstGeom>
          <a:solidFill>
            <a:srgbClr val="FA95A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13" name="Text 10"/>
          <p:cNvSpPr/>
          <p:nvPr/>
        </p:nvSpPr>
        <p:spPr>
          <a:xfrm>
            <a:off x="4695527" y="2161952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Agence &amp; Véhicule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95527" y="2381176"/>
            <a:ext cx="32436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Opérateurs, flotte, capacités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95527" y="2652787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695527" y="2804071"/>
            <a:ext cx="3243635" cy="14288"/>
          </a:xfrm>
          <a:prstGeom prst="rect">
            <a:avLst/>
          </a:prstGeom>
          <a:solidFill>
            <a:srgbClr val="FA95A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17" name="Text 14"/>
          <p:cNvSpPr/>
          <p:nvPr/>
        </p:nvSpPr>
        <p:spPr>
          <a:xfrm>
            <a:off x="4695527" y="2881313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Voyage &amp; Réservation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695527" y="3100536"/>
            <a:ext cx="32436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Trajets, horaires, sièges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695527" y="3372148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04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95527" y="3523431"/>
            <a:ext cx="3243635" cy="14288"/>
          </a:xfrm>
          <a:prstGeom prst="rect">
            <a:avLst/>
          </a:prstGeom>
          <a:solidFill>
            <a:srgbClr val="FA95A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21" name="Text 18"/>
          <p:cNvSpPr/>
          <p:nvPr/>
        </p:nvSpPr>
        <p:spPr>
          <a:xfrm>
            <a:off x="4695527" y="3600673"/>
            <a:ext cx="129413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Paiement, Facture &amp; Ticket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695527" y="3819897"/>
            <a:ext cx="32436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Transactions, preuves numériques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695527" y="4091508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 Light" pitchFamily="34" charset="0"/>
                <a:ea typeface="Anton Light" pitchFamily="34" charset="-122"/>
                <a:cs typeface="Anton Light" pitchFamily="34" charset="-120"/>
              </a:rPr>
              <a:t>05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695527" y="4242792"/>
            <a:ext cx="3243635" cy="14288"/>
          </a:xfrm>
          <a:prstGeom prst="rect">
            <a:avLst/>
          </a:prstGeom>
          <a:solidFill>
            <a:srgbClr val="FA95A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25" name="Text 22"/>
          <p:cNvSpPr/>
          <p:nvPr/>
        </p:nvSpPr>
        <p:spPr>
          <a:xfrm>
            <a:off x="4695527" y="4320034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Avis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695527" y="4539258"/>
            <a:ext cx="32436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Retours utilisateurs, notation</a:t>
            </a:r>
            <a:endParaRPr lang="en-US" sz="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CC3B35-78D6-759D-C5C1-7B15A2B8E207}"/>
              </a:ext>
            </a:extLst>
          </p:cNvPr>
          <p:cNvSpPr/>
          <p:nvPr/>
        </p:nvSpPr>
        <p:spPr>
          <a:xfrm>
            <a:off x="7983166" y="4831404"/>
            <a:ext cx="1160834" cy="31209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377949"/>
            <a:ext cx="741908" cy="237976"/>
          </a:xfrm>
          <a:prstGeom prst="roundRect">
            <a:avLst>
              <a:gd name="adj" fmla="val 6367"/>
            </a:avLst>
          </a:prstGeom>
          <a:noFill/>
          <a:ln w="4763">
            <a:solidFill>
              <a:srgbClr val="FA95AE"/>
            </a:solidFill>
            <a:prstDash val="solid"/>
          </a:ln>
        </p:spPr>
        <p:txBody>
          <a:bodyPr/>
          <a:lstStyle/>
          <a:p>
            <a:endParaRPr lang="fr-CM" dirty="0"/>
          </a:p>
        </p:txBody>
      </p:sp>
      <p:sp>
        <p:nvSpPr>
          <p:cNvPr id="3" name="Text 1"/>
          <p:cNvSpPr/>
          <p:nvPr/>
        </p:nvSpPr>
        <p:spPr>
          <a:xfrm>
            <a:off x="522387" y="420588"/>
            <a:ext cx="1038076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RÉALISATION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60871"/>
            <a:ext cx="4137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Interfaces et implémentation</a:t>
            </a:r>
            <a:endParaRPr lang="en-US" sz="24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200" y="1224037"/>
            <a:ext cx="889946" cy="19282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1871" y="3292748"/>
            <a:ext cx="1578248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🔐</a:t>
            </a: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Connexion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1871" y="3566964"/>
            <a:ext cx="265970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Authentification sécurisée via JWT, inscription fluide et récupération de mot de passe.</a:t>
            </a:r>
            <a:endParaRPr lang="en-US" sz="950" dirty="0"/>
          </a:p>
        </p:txBody>
      </p:sp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68401" y="1224037"/>
            <a:ext cx="889946" cy="19282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42072" y="3292748"/>
            <a:ext cx="1578248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🤖</a:t>
            </a: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Réservation IA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42072" y="3566964"/>
            <a:ext cx="265978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Recherche intelligente avec assistant vocal, filtres dynamiques et suggestions personnalisées.</a:t>
            </a:r>
            <a:endParaRPr lang="en-US" sz="950" dirty="0"/>
          </a:p>
        </p:txBody>
      </p:sp>
      <p:pic>
        <p:nvPicPr>
          <p:cNvPr id="11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68676" y="1224037"/>
            <a:ext cx="889946" cy="192821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2347" y="3292748"/>
            <a:ext cx="1578248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🚌</a:t>
            </a:r>
            <a:r>
              <a:rPr lang="en-US" sz="12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Agences &amp; Voyages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042347" y="3566964"/>
            <a:ext cx="26597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Liste des opérateurs, horaires, disponibilités et tarifs mis à jour en temps réel.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41871" y="4266307"/>
            <a:ext cx="8260259" cy="499244"/>
          </a:xfrm>
          <a:prstGeom prst="roundRect">
            <a:avLst>
              <a:gd name="adj" fmla="val 379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fr-CM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077" y="4451747"/>
            <a:ext cx="157758" cy="1262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2041" y="4410298"/>
            <a:ext cx="81810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Technologies :</a:t>
            </a:r>
            <a:r>
              <a:rPr lang="en-US" sz="9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React Native · Spring Boot 3 · MySQL · OpenAPI / Swagger</a:t>
            </a:r>
            <a:endParaRPr lang="en-US" sz="9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019C01-093B-451D-CAD3-1EC58B79E9AA}"/>
              </a:ext>
            </a:extLst>
          </p:cNvPr>
          <p:cNvSpPr/>
          <p:nvPr/>
        </p:nvSpPr>
        <p:spPr>
          <a:xfrm>
            <a:off x="7983166" y="4831404"/>
            <a:ext cx="1160834" cy="31209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364629"/>
            <a:ext cx="612204" cy="218033"/>
          </a:xfrm>
          <a:prstGeom prst="roundRect">
            <a:avLst>
              <a:gd name="adj" fmla="val 6705"/>
            </a:avLst>
          </a:prstGeom>
          <a:solidFill>
            <a:srgbClr val="490315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3" name="Text 1"/>
          <p:cNvSpPr/>
          <p:nvPr/>
        </p:nvSpPr>
        <p:spPr>
          <a:xfrm>
            <a:off x="499467" y="401166"/>
            <a:ext cx="923255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RÉSULTATS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26393" y="624483"/>
            <a:ext cx="4734520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Gofleet vs. les solutions existantes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426393" y="1162199"/>
            <a:ext cx="8291215" cy="2281014"/>
          </a:xfrm>
          <a:prstGeom prst="roundRect">
            <a:avLst>
              <a:gd name="adj" fmla="val 80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CM" dirty="0"/>
          </a:p>
        </p:txBody>
      </p:sp>
      <p:sp>
        <p:nvSpPr>
          <p:cNvPr id="6" name="Text 4"/>
          <p:cNvSpPr/>
          <p:nvPr/>
        </p:nvSpPr>
        <p:spPr>
          <a:xfrm>
            <a:off x="553194" y="1234529"/>
            <a:ext cx="26956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Critère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40038" y="1234529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Gofleet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30700" y="1234529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Booking / Omio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21363" y="1234529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Google Maps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512025" y="1234529"/>
            <a:ext cx="15362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Agences locales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3194" y="1555626"/>
            <a:ext cx="26956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Centralisation locale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40038" y="1555626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Oui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30700" y="1555626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21363" y="1555626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12025" y="1555626"/>
            <a:ext cx="1536204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3194" y="1881485"/>
            <a:ext cx="26956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Réservation en ligne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40038" y="1881485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Oui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30700" y="1881485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Oui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21363" y="1881485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12025" y="1881485"/>
            <a:ext cx="1536204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3194" y="2207344"/>
            <a:ext cx="26956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Paiement Mobile Money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40038" y="2207344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Oui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30700" y="2207344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21363" y="2207344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12025" y="2207344"/>
            <a:ext cx="1536204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⚠️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Partiel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3194" y="2533204"/>
            <a:ext cx="26956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Ticket QR Code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40038" y="2533204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Oui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30700" y="2533204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21363" y="2533204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12025" y="2533204"/>
            <a:ext cx="1536204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3194" y="2859063"/>
            <a:ext cx="26956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Assistant IA vocal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40038" y="2859063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Oui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30700" y="2859063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21363" y="2859063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12025" y="2859063"/>
            <a:ext cx="1536204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194" y="3184922"/>
            <a:ext cx="26956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Adapté au Cameroun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040038" y="3184922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Oui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30700" y="3184922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❌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21363" y="3184922"/>
            <a:ext cx="1699468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⚠️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Partiel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12025" y="3184922"/>
            <a:ext cx="1536204" cy="185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✅</a:t>
            </a: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Oui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26393" y="3621807"/>
            <a:ext cx="2676525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7</a:t>
            </a:r>
            <a:endParaRPr lang="en-US" sz="3150" dirty="0"/>
          </a:p>
        </p:txBody>
      </p:sp>
      <p:sp>
        <p:nvSpPr>
          <p:cNvPr id="42" name="Text 40"/>
          <p:cNvSpPr/>
          <p:nvPr/>
        </p:nvSpPr>
        <p:spPr>
          <a:xfrm>
            <a:off x="1003176" y="4163244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Fonctionnalités clés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26393" y="4416400"/>
            <a:ext cx="267652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Recherche, réservation, paiement, QR, avis, géoloc, IA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33738" y="3621807"/>
            <a:ext cx="2676525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3150" dirty="0"/>
          </a:p>
        </p:txBody>
      </p:sp>
      <p:sp>
        <p:nvSpPr>
          <p:cNvPr id="45" name="Text 43"/>
          <p:cNvSpPr/>
          <p:nvPr/>
        </p:nvSpPr>
        <p:spPr>
          <a:xfrm>
            <a:off x="3810521" y="4163244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Modes de transport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233738" y="4416400"/>
            <a:ext cx="267652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Terrestre, ferroviaire, aérien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41082" y="3621807"/>
            <a:ext cx="2676525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3150" dirty="0"/>
          </a:p>
        </p:txBody>
      </p:sp>
      <p:sp>
        <p:nvSpPr>
          <p:cNvPr id="48" name="Text 46"/>
          <p:cNvSpPr/>
          <p:nvPr/>
        </p:nvSpPr>
        <p:spPr>
          <a:xfrm>
            <a:off x="6617866" y="4163244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Paiements mobiles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041082" y="4416400"/>
            <a:ext cx="267652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Orange Money &amp; MTN Mobile Money</a:t>
            </a:r>
            <a:endParaRPr lang="en-US" sz="95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2BE927-1DDF-436E-F578-F510E53B99FE}"/>
              </a:ext>
            </a:extLst>
          </p:cNvPr>
          <p:cNvSpPr/>
          <p:nvPr/>
        </p:nvSpPr>
        <p:spPr>
          <a:xfrm>
            <a:off x="7983166" y="4837935"/>
            <a:ext cx="1160834" cy="31209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831279"/>
            <a:ext cx="829494" cy="266402"/>
          </a:xfrm>
          <a:prstGeom prst="roundRect">
            <a:avLst>
              <a:gd name="adj" fmla="val 6386"/>
            </a:avLst>
          </a:prstGeom>
          <a:solidFill>
            <a:srgbClr val="490315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4" name="Text 1"/>
          <p:cNvSpPr/>
          <p:nvPr/>
        </p:nvSpPr>
        <p:spPr>
          <a:xfrm>
            <a:off x="4010174" y="873770"/>
            <a:ext cx="11165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154385"/>
            <a:ext cx="42077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Merci pour votre attention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3925119" y="1809973"/>
            <a:ext cx="4722763" cy="2115889"/>
          </a:xfrm>
          <a:prstGeom prst="roundRect">
            <a:avLst>
              <a:gd name="adj" fmla="val 1005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7" name="Shape 4"/>
          <p:cNvSpPr/>
          <p:nvPr/>
        </p:nvSpPr>
        <p:spPr>
          <a:xfrm>
            <a:off x="3925119" y="1809973"/>
            <a:ext cx="4722763" cy="1057945"/>
          </a:xfrm>
          <a:prstGeom prst="roundRect">
            <a:avLst>
              <a:gd name="adj" fmla="val 201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8" name="Text 5"/>
          <p:cNvSpPr/>
          <p:nvPr/>
        </p:nvSpPr>
        <p:spPr>
          <a:xfrm>
            <a:off x="4066877" y="1951732"/>
            <a:ext cx="17720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✅</a:t>
            </a: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Projet fonctionnel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6877" y="2272531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Une plateforme complète, innovante et adaptée au contexte camerounais.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867918"/>
            <a:ext cx="4722763" cy="1057945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11" name="Shape 8"/>
          <p:cNvSpPr/>
          <p:nvPr/>
        </p:nvSpPr>
        <p:spPr>
          <a:xfrm>
            <a:off x="3925119" y="2867918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fr-CM" dirty="0"/>
          </a:p>
        </p:txBody>
      </p:sp>
      <p:sp>
        <p:nvSpPr>
          <p:cNvPr id="12" name="Text 9"/>
          <p:cNvSpPr/>
          <p:nvPr/>
        </p:nvSpPr>
        <p:spPr>
          <a:xfrm>
            <a:off x="4066877" y="3009677"/>
            <a:ext cx="17720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🚀</a:t>
            </a:r>
            <a:r>
              <a:rPr lang="en-US" sz="13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Perspectives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3330476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Tracking temps réel · IA vocale avancée · Taxi à l'arrivée · Extension Afrique centrale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25119" y="408533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IUGEE Keyce Academy</a:t>
            </a: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· Année académique 2025–2026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30E250-6146-4B04-FE9E-72B7FF0E1BAB}"/>
              </a:ext>
            </a:extLst>
          </p:cNvPr>
          <p:cNvSpPr/>
          <p:nvPr/>
        </p:nvSpPr>
        <p:spPr>
          <a:xfrm>
            <a:off x="7983166" y="4831404"/>
            <a:ext cx="1160834" cy="31209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644</Words>
  <Application>Microsoft Office PowerPoint</Application>
  <PresentationFormat>Affichage à l'écran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Anton Light</vt:lpstr>
      <vt:lpstr>Arial</vt:lpstr>
      <vt:lpstr>Anton</vt:lpstr>
      <vt:lpstr>Fira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mack edzoa</dc:creator>
  <cp:lastModifiedBy>mack edzoa</cp:lastModifiedBy>
  <cp:revision>2</cp:revision>
  <dcterms:created xsi:type="dcterms:W3CDTF">2026-06-03T12:52:41Z</dcterms:created>
  <dcterms:modified xsi:type="dcterms:W3CDTF">2026-06-03T13:07:51Z</dcterms:modified>
</cp:coreProperties>
</file>